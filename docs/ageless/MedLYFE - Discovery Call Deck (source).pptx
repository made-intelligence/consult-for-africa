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2" r:id="rId4"/>
    <p:sldId id="257" r:id="rId5"/>
    <p:sldId id="258" r:id="rId6"/>
    <p:sldId id="259" r:id="rId7"/>
    <p:sldId id="263" r:id="rId8"/>
    <p:sldId id="26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03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6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MG_2107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457200" cy="6858000"/>
          </a:xfrm>
          <a:prstGeom prst="rect">
            <a:avLst/>
          </a:prstGeom>
          <a:solidFill>
            <a:srgbClr val="4E6238">
              <a:alpha val="85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medLYFE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Longevity Centre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MedLYFE helps people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better, longer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science-led wellness and longevity centre for midlife optimization — built on advanced diagnostics, structured programs, and high-touch care.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532120"/>
            <a:ext cx="411480" cy="411480"/>
          </a:xfrm>
          <a:prstGeom prst="ellipse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235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5532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Healthspan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606040" y="5532120"/>
            <a:ext cx="411480" cy="411480"/>
          </a:xfrm>
          <a:prstGeom prst="ellipse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56235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5532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0" y="5532120"/>
            <a:ext cx="411480" cy="411480"/>
          </a:xfrm>
          <a:prstGeom prst="ellipse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559308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74920" y="5532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Wellness</a:t>
            </a:r>
          </a:p>
        </p:txBody>
      </p:sp>
      <p:sp>
        <p:nvSpPr>
          <p:cNvPr id="18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Label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548640" y="658368"/>
            <a:ext cx="700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Basics</a:t>
            </a:r>
            <a:endParaRPr lang="en-US" sz="2800" dirty="0"/>
          </a:p>
        </p:txBody>
      </p:sp>
      <p:sp>
        <p:nvSpPr>
          <p:cNvPr id="5" name="Byline"/>
          <p:cNvSpPr/>
          <p:nvPr/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forces shape how you age — and the gap between them is where we work.</a:t>
            </a:r>
            <a:endParaRPr lang="en-US" sz="1300" dirty="0"/>
          </a:p>
        </p:txBody>
      </p:sp>
      <p:sp>
        <p:nvSpPr>
          <p:cNvPr id="6" name="Accent Quote"/>
          <p:cNvSpPr/>
          <p:nvPr/>
        </p:nvSpPr>
        <p:spPr>
          <a:xfrm>
            <a:off x="7726680" y="36576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kern="0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</a:t>
            </a:r>
            <a:r>
              <a:rPr lang="en-US" sz="1600" b="1" i="1" kern="0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Today.</a:t>
            </a:r>
            <a:endParaRPr lang="en-US" sz="1600" dirty="0"/>
          </a:p>
          <a:p>
            <a:pPr marL="0" indent="0" algn="r">
              <a:buNone/>
            </a:pPr>
            <a:r>
              <a:rPr lang="en-US" sz="1600" i="1" kern="0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the Gap </a:t>
            </a:r>
            <a:r>
              <a:rPr lang="en-US" sz="1600" b="1" i="1" kern="0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Tomorrow.</a:t>
            </a:r>
            <a:endParaRPr lang="en-US" sz="1600" dirty="0"/>
          </a:p>
        </p:txBody>
      </p:sp>
      <p:sp>
        <p:nvSpPr>
          <p:cNvPr id="7" name="DefHead0"/>
          <p:cNvSpPr/>
          <p:nvPr/>
        </p:nvSpPr>
        <p:spPr>
          <a:xfrm>
            <a:off x="548640" y="178308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kern="0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LONGEVITY?</a:t>
            </a:r>
            <a:endParaRPr lang="en-US" sz="1400" dirty="0"/>
          </a:p>
        </p:txBody>
      </p:sp>
      <p:sp>
        <p:nvSpPr>
          <p:cNvPr id="8" name="DefDesc0"/>
          <p:cNvSpPr/>
          <p:nvPr/>
        </p:nvSpPr>
        <p:spPr>
          <a:xfrm>
            <a:off x="548640" y="2148840"/>
            <a:ext cx="67208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is about living longer while maintaining health and vitality — extending both your lifespan and health span.</a:t>
            </a:r>
            <a:endParaRPr lang="en-US" sz="1200" dirty="0"/>
          </a:p>
        </p:txBody>
      </p:sp>
      <p:sp>
        <p:nvSpPr>
          <p:cNvPr id="9" name="DefHead1"/>
          <p:cNvSpPr/>
          <p:nvPr/>
        </p:nvSpPr>
        <p:spPr>
          <a:xfrm>
            <a:off x="548640" y="301752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kern="0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WELLNESS?</a:t>
            </a:r>
            <a:endParaRPr lang="en-US" sz="1400" dirty="0"/>
          </a:p>
        </p:txBody>
      </p:sp>
      <p:sp>
        <p:nvSpPr>
          <p:cNvPr id="10" name="DefDesc1"/>
          <p:cNvSpPr/>
          <p:nvPr/>
        </p:nvSpPr>
        <p:spPr>
          <a:xfrm>
            <a:off x="548640" y="3383280"/>
            <a:ext cx="67208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is how well you feel and function today — your energy, vitality, resilience and overall wellbeing.</a:t>
            </a:r>
            <a:endParaRPr lang="en-US" sz="1200" dirty="0"/>
          </a:p>
        </p:txBody>
      </p:sp>
      <p:sp>
        <p:nvSpPr>
          <p:cNvPr id="11" name="DefHead2"/>
          <p:cNvSpPr/>
          <p:nvPr/>
        </p:nvSpPr>
        <p:spPr>
          <a:xfrm>
            <a:off x="548640" y="425196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kern="0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HEALTH OPTIMIZATION?</a:t>
            </a:r>
            <a:endParaRPr lang="en-US" sz="1400" dirty="0"/>
          </a:p>
        </p:txBody>
      </p:sp>
      <p:sp>
        <p:nvSpPr>
          <p:cNvPr id="12" name="DefDesc2"/>
          <p:cNvSpPr/>
          <p:nvPr/>
        </p:nvSpPr>
        <p:spPr>
          <a:xfrm>
            <a:off x="548640" y="4617720"/>
            <a:ext cx="6720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optimization is the proactive process of improving how you feel, perform and function today, while building the foundation for a longer, healthier future.</a:t>
            </a:r>
            <a:endParaRPr lang="en-US" sz="1200" dirty="0"/>
          </a:p>
        </p:txBody>
      </p:sp>
      <p:sp>
        <p:nvSpPr>
          <p:cNvPr id="13" name="RightBox"/>
          <p:cNvSpPr/>
          <p:nvPr/>
        </p:nvSpPr>
        <p:spPr>
          <a:xfrm>
            <a:off x="7726680" y="1783080"/>
            <a:ext cx="3931920" cy="4206240"/>
          </a:xfrm>
          <a:prstGeom prst="roundRect">
            <a:avLst/>
          </a:prstGeom>
          <a:solidFill>
            <a:srgbClr val="4E6238"/>
          </a:solidFill>
          <a:ln>
            <a:noFill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LifeSpanLabel"/>
          <p:cNvSpPr/>
          <p:nvPr/>
        </p:nvSpPr>
        <p:spPr>
          <a:xfrm>
            <a:off x="8001000" y="20116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SPAN</a:t>
            </a:r>
            <a:r>
              <a:rPr lang="en-US" sz="1050" i="1" kern="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long you live.</a:t>
            </a:r>
            <a:endParaRPr lang="en-US" sz="1300" dirty="0"/>
          </a:p>
        </p:txBody>
      </p:sp>
      <p:sp>
        <p:nvSpPr>
          <p:cNvPr id="15" name="LifeBarBg"/>
          <p:cNvSpPr/>
          <p:nvPr/>
        </p:nvSpPr>
        <p:spPr>
          <a:xfrm>
            <a:off x="8001000" y="2331720"/>
            <a:ext cx="3383280" cy="182880"/>
          </a:xfrm>
          <a:prstGeom prst="roundRect">
            <a:avLst/>
          </a:prstGeom>
          <a:solidFill>
            <a:srgbClr val="B9C4A4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6" name="LifeBarFill"/>
          <p:cNvSpPr/>
          <p:nvPr/>
        </p:nvSpPr>
        <p:spPr>
          <a:xfrm>
            <a:off x="8001000" y="2331720"/>
            <a:ext cx="3281781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7" name="LifeBirth"/>
          <p:cNvSpPr/>
          <p:nvPr/>
        </p:nvSpPr>
        <p:spPr>
          <a:xfrm>
            <a:off x="8001000" y="2560320"/>
            <a:ext cx="12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</a:t>
            </a:r>
            <a:endParaRPr lang="en-US" sz="950" dirty="0"/>
          </a:p>
        </p:txBody>
      </p:sp>
      <p:sp>
        <p:nvSpPr>
          <p:cNvPr id="18" name="LifeEnd"/>
          <p:cNvSpPr/>
          <p:nvPr/>
        </p:nvSpPr>
        <p:spPr>
          <a:xfrm>
            <a:off x="10184280" y="2560320"/>
            <a:ext cx="12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Life</a:t>
            </a:r>
            <a:endParaRPr lang="en-US" sz="950" dirty="0"/>
          </a:p>
        </p:txBody>
      </p:sp>
      <p:sp>
        <p:nvSpPr>
          <p:cNvPr id="19" name="HealthSpanLabel"/>
          <p:cNvSpPr/>
          <p:nvPr/>
        </p:nvSpPr>
        <p:spPr>
          <a:xfrm>
            <a:off x="8001000" y="28803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SPAN</a:t>
            </a:r>
            <a:r>
              <a:rPr lang="en-US" sz="1050" i="1" kern="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well you live.</a:t>
            </a:r>
            <a:endParaRPr lang="en-US" sz="1300" dirty="0"/>
          </a:p>
        </p:txBody>
      </p:sp>
      <p:sp>
        <p:nvSpPr>
          <p:cNvPr id="20" name="HealthBarBg"/>
          <p:cNvSpPr/>
          <p:nvPr/>
        </p:nvSpPr>
        <p:spPr>
          <a:xfrm>
            <a:off x="8001000" y="3200400"/>
            <a:ext cx="3383280" cy="182880"/>
          </a:xfrm>
          <a:prstGeom prst="roundRect">
            <a:avLst/>
          </a:prstGeom>
          <a:solidFill>
            <a:srgbClr val="B9C4A4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1" name="HealthBarFill"/>
          <p:cNvSpPr/>
          <p:nvPr/>
        </p:nvSpPr>
        <p:spPr>
          <a:xfrm>
            <a:off x="8001000" y="3200400"/>
            <a:ext cx="1860804" cy="182880"/>
          </a:xfrm>
          <a:prstGeom prst="roundRect">
            <a:avLst/>
          </a:prstGeom>
          <a:solidFill>
            <a:srgbClr val="E3E8D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2" name="HealthBirth"/>
          <p:cNvSpPr/>
          <p:nvPr/>
        </p:nvSpPr>
        <p:spPr>
          <a:xfrm>
            <a:off x="8001000" y="3429000"/>
            <a:ext cx="12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</a:t>
            </a:r>
            <a:endParaRPr lang="en-US" sz="950" dirty="0"/>
          </a:p>
        </p:txBody>
      </p:sp>
      <p:sp>
        <p:nvSpPr>
          <p:cNvPr id="23" name="HealthEnd"/>
          <p:cNvSpPr/>
          <p:nvPr/>
        </p:nvSpPr>
        <p:spPr>
          <a:xfrm>
            <a:off x="10184280" y="3429000"/>
            <a:ext cx="12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Life</a:t>
            </a:r>
            <a:endParaRPr lang="en-US" sz="950" dirty="0"/>
          </a:p>
        </p:txBody>
      </p:sp>
      <p:sp>
        <p:nvSpPr>
          <p:cNvPr id="24" name="Caption"/>
          <p:cNvSpPr/>
          <p:nvPr/>
        </p:nvSpPr>
        <p:spPr>
          <a:xfrm>
            <a:off x="8001000" y="37490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kern="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spend their final years in decline — we close the gap by extending your health span.</a:t>
            </a:r>
            <a:endParaRPr lang="en-US" sz="1050" dirty="0"/>
          </a:p>
        </p:txBody>
      </p:sp>
      <p:sp>
        <p:nvSpPr>
          <p:cNvPr id="25" name="IconCircle0"/>
          <p:cNvSpPr/>
          <p:nvPr/>
        </p:nvSpPr>
        <p:spPr>
          <a:xfrm>
            <a:off x="8001000" y="4389120"/>
            <a:ext cx="500000" cy="5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6" name="IconGlyph0"/>
          <p:cNvSpPr/>
          <p:nvPr/>
        </p:nvSpPr>
        <p:spPr>
          <a:xfrm>
            <a:off x="8121000" y="4509120"/>
            <a:ext cx="260000" cy="260000"/>
          </a:xfrm>
          <a:prstGeom prst="gear6">
            <a:avLst/>
          </a:prstGeom>
          <a:solidFill>
            <a:srgbClr val="4E623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7" name="IconLabel0"/>
          <p:cNvSpPr/>
          <p:nvPr/>
        </p:nvSpPr>
        <p:spPr>
          <a:xfrm>
            <a:off x="7851000" y="4934840"/>
            <a:ext cx="8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28" name="IconCircle1"/>
          <p:cNvSpPr/>
          <p:nvPr/>
        </p:nvSpPr>
        <p:spPr>
          <a:xfrm>
            <a:off x="9442640" y="4389120"/>
            <a:ext cx="500000" cy="5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9" name="IconGlyph1"/>
          <p:cNvSpPr/>
          <p:nvPr/>
        </p:nvSpPr>
        <p:spPr>
          <a:xfrm>
            <a:off x="9562640" y="4509120"/>
            <a:ext cx="260000" cy="260000"/>
          </a:xfrm>
          <a:prstGeom prst="heart">
            <a:avLst/>
          </a:prstGeom>
          <a:solidFill>
            <a:srgbClr val="4E623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0" name="IconLabel1"/>
          <p:cNvSpPr/>
          <p:nvPr/>
        </p:nvSpPr>
        <p:spPr>
          <a:xfrm>
            <a:off x="9292640" y="4934840"/>
            <a:ext cx="8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950" dirty="0"/>
          </a:p>
        </p:txBody>
      </p:sp>
      <p:sp>
        <p:nvSpPr>
          <p:cNvPr id="31" name="IconCircle2"/>
          <p:cNvSpPr/>
          <p:nvPr/>
        </p:nvSpPr>
        <p:spPr>
          <a:xfrm>
            <a:off x="10884280" y="4389120"/>
            <a:ext cx="500000" cy="5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2" name="IconGlyph2"/>
          <p:cNvSpPr/>
          <p:nvPr/>
        </p:nvSpPr>
        <p:spPr>
          <a:xfrm>
            <a:off x="11004280" y="4509120"/>
            <a:ext cx="260000" cy="260000"/>
          </a:xfrm>
          <a:prstGeom prst="sun">
            <a:avLst/>
          </a:prstGeom>
          <a:solidFill>
            <a:srgbClr val="4E623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3" name="IconLabel2"/>
          <p:cNvSpPr/>
          <p:nvPr/>
        </p:nvSpPr>
        <p:spPr>
          <a:xfrm>
            <a:off x="10734280" y="4934840"/>
            <a:ext cx="8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950" dirty="0"/>
          </a:p>
        </p:txBody>
      </p:sp>
      <p:sp>
        <p:nvSpPr>
          <p:cNvPr id="34" name="Arrow1"/>
          <p:cNvSpPr/>
          <p:nvPr/>
        </p:nvSpPr>
        <p:spPr>
          <a:xfrm>
            <a:off x="8501000" y="4539120"/>
            <a:ext cx="9416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Arrow2"/>
          <p:cNvSpPr/>
          <p:nvPr/>
        </p:nvSpPr>
        <p:spPr>
          <a:xfrm>
            <a:off x="9942640" y="4539120"/>
            <a:ext cx="9416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PageNum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Label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4" name="Title"/>
          <p:cNvSpPr/>
          <p:nvPr/>
        </p:nvSpPr>
        <p:spPr>
          <a:xfrm>
            <a:off x="548640" y="658368"/>
            <a:ext cx="750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5" name="Byline"/>
          <p:cNvSpPr/>
          <p:nvPr/>
        </p:nvSpPr>
        <p:spPr>
          <a:xfrm>
            <a:off x="548640" y="1188720"/>
            <a:ext cx="800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a longer health span changes everything.</a:t>
            </a:r>
            <a:endParaRPr lang="en-US" sz="1300" dirty="0"/>
          </a:p>
        </p:txBody>
      </p:sp>
      <p:sp>
        <p:nvSpPr>
          <p:cNvPr id="6" name="Card0"/>
          <p:cNvSpPr/>
          <p:nvPr/>
        </p:nvSpPr>
        <p:spPr>
          <a:xfrm>
            <a:off x="548640" y="1783080"/>
            <a:ext cx="3515360" cy="18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7" name="CardCircle0"/>
          <p:cNvSpPr/>
          <p:nvPr/>
        </p:nvSpPr>
        <p:spPr>
          <a:xfrm>
            <a:off x="777240" y="2011680"/>
            <a:ext cx="460000" cy="460000"/>
          </a:xfrm>
          <a:prstGeom prst="ellipse">
            <a:avLst/>
          </a:prstGeom>
          <a:solidFill>
            <a:srgbClr val="72835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8" name="CardGlyph0"/>
          <p:cNvSpPr/>
          <p:nvPr/>
        </p:nvSpPr>
        <p:spPr>
          <a:xfrm>
            <a:off x="887240" y="2121680"/>
            <a:ext cx="240000" cy="24000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9" name="CardHead0"/>
          <p:cNvSpPr/>
          <p:nvPr/>
        </p:nvSpPr>
        <p:spPr>
          <a:xfrm>
            <a:off x="777240" y="2563120"/>
            <a:ext cx="305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Good Years</a:t>
            </a:r>
            <a:endParaRPr lang="en-US" sz="1300" dirty="0"/>
          </a:p>
        </p:txBody>
      </p:sp>
      <p:sp>
        <p:nvSpPr>
          <p:cNvPr id="10" name="CardDesc0"/>
          <p:cNvSpPr/>
          <p:nvPr/>
        </p:nvSpPr>
        <p:spPr>
          <a:xfrm>
            <a:off x="777240" y="2928880"/>
            <a:ext cx="305816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more of your life feeling your best.</a:t>
            </a:r>
            <a:endParaRPr lang="en-US" sz="1050" dirty="0"/>
          </a:p>
        </p:txBody>
      </p:sp>
      <p:sp>
        <p:nvSpPr>
          <p:cNvPr id="11" name="Card1"/>
          <p:cNvSpPr/>
          <p:nvPr/>
        </p:nvSpPr>
        <p:spPr>
          <a:xfrm>
            <a:off x="4338320" y="1783080"/>
            <a:ext cx="3515360" cy="18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CardCircle1"/>
          <p:cNvSpPr/>
          <p:nvPr/>
        </p:nvSpPr>
        <p:spPr>
          <a:xfrm>
            <a:off x="4566920" y="2011680"/>
            <a:ext cx="460000" cy="460000"/>
          </a:xfrm>
          <a:prstGeom prst="ellipse">
            <a:avLst/>
          </a:prstGeom>
          <a:solidFill>
            <a:srgbClr val="72835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3" name="CardGlyph1"/>
          <p:cNvSpPr/>
          <p:nvPr/>
        </p:nvSpPr>
        <p:spPr>
          <a:xfrm>
            <a:off x="4676920" y="2121680"/>
            <a:ext cx="240000" cy="24000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4" name="CardHead1"/>
          <p:cNvSpPr/>
          <p:nvPr/>
        </p:nvSpPr>
        <p:spPr>
          <a:xfrm>
            <a:off x="4566920" y="2563120"/>
            <a:ext cx="305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</a:t>
            </a:r>
            <a:endParaRPr lang="en-US" sz="1300" dirty="0"/>
          </a:p>
        </p:txBody>
      </p:sp>
      <p:sp>
        <p:nvSpPr>
          <p:cNvPr id="15" name="CardDesc1"/>
          <p:cNvSpPr/>
          <p:nvPr/>
        </p:nvSpPr>
        <p:spPr>
          <a:xfrm>
            <a:off x="4566920" y="2928880"/>
            <a:ext cx="305816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and delay chronic disease and disability.</a:t>
            </a:r>
            <a:endParaRPr lang="en-US" sz="1050" dirty="0"/>
          </a:p>
        </p:txBody>
      </p:sp>
      <p:sp>
        <p:nvSpPr>
          <p:cNvPr id="16" name="Card2"/>
          <p:cNvSpPr/>
          <p:nvPr/>
        </p:nvSpPr>
        <p:spPr>
          <a:xfrm>
            <a:off x="8128000" y="1783080"/>
            <a:ext cx="3515360" cy="18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CardCircle2"/>
          <p:cNvSpPr/>
          <p:nvPr/>
        </p:nvSpPr>
        <p:spPr>
          <a:xfrm>
            <a:off x="8356600" y="2011680"/>
            <a:ext cx="460000" cy="460000"/>
          </a:xfrm>
          <a:prstGeom prst="ellipse">
            <a:avLst/>
          </a:prstGeom>
          <a:solidFill>
            <a:srgbClr val="72835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8" name="CardGlyph2"/>
          <p:cNvSpPr/>
          <p:nvPr/>
        </p:nvSpPr>
        <p:spPr>
          <a:xfrm>
            <a:off x="8466600" y="2121680"/>
            <a:ext cx="240000" cy="240000"/>
          </a:xfrm>
          <a:prstGeom prst="lightningBol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9" name="CardHead2"/>
          <p:cNvSpPr/>
          <p:nvPr/>
        </p:nvSpPr>
        <p:spPr>
          <a:xfrm>
            <a:off x="8356600" y="2563120"/>
            <a:ext cx="305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Energy &amp; Independence</a:t>
            </a:r>
            <a:endParaRPr lang="en-US" sz="1300" dirty="0"/>
          </a:p>
        </p:txBody>
      </p:sp>
      <p:sp>
        <p:nvSpPr>
          <p:cNvPr id="20" name="CardDesc2"/>
          <p:cNvSpPr/>
          <p:nvPr/>
        </p:nvSpPr>
        <p:spPr>
          <a:xfrm>
            <a:off x="8356600" y="2928880"/>
            <a:ext cx="305816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active, capable and confident.</a:t>
            </a:r>
            <a:endParaRPr lang="en-US" sz="1050" dirty="0"/>
          </a:p>
        </p:txBody>
      </p:sp>
      <p:sp>
        <p:nvSpPr>
          <p:cNvPr id="21" name="Card3"/>
          <p:cNvSpPr/>
          <p:nvPr/>
        </p:nvSpPr>
        <p:spPr>
          <a:xfrm>
            <a:off x="548640" y="3733080"/>
            <a:ext cx="3515360" cy="18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2" name="CardCircle3"/>
          <p:cNvSpPr/>
          <p:nvPr/>
        </p:nvSpPr>
        <p:spPr>
          <a:xfrm>
            <a:off x="777240" y="3961680"/>
            <a:ext cx="460000" cy="460000"/>
          </a:xfrm>
          <a:prstGeom prst="ellipse">
            <a:avLst/>
          </a:prstGeom>
          <a:solidFill>
            <a:srgbClr val="72835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3" name="CardGlyph3"/>
          <p:cNvSpPr/>
          <p:nvPr/>
        </p:nvSpPr>
        <p:spPr>
          <a:xfrm>
            <a:off x="887240" y="4071680"/>
            <a:ext cx="240000" cy="24000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4" name="CardHead3"/>
          <p:cNvSpPr/>
          <p:nvPr/>
        </p:nvSpPr>
        <p:spPr>
          <a:xfrm>
            <a:off x="777240" y="4513120"/>
            <a:ext cx="305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Quality of Life</a:t>
            </a:r>
            <a:endParaRPr lang="en-US" sz="1300" dirty="0"/>
          </a:p>
        </p:txBody>
      </p:sp>
      <p:sp>
        <p:nvSpPr>
          <p:cNvPr id="25" name="CardDesc3"/>
          <p:cNvSpPr/>
          <p:nvPr/>
        </p:nvSpPr>
        <p:spPr>
          <a:xfrm>
            <a:off x="777240" y="4878880"/>
            <a:ext cx="305816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 — and the people you love.</a:t>
            </a:r>
            <a:endParaRPr lang="en-US" sz="1050" dirty="0"/>
          </a:p>
        </p:txBody>
      </p:sp>
      <p:sp>
        <p:nvSpPr>
          <p:cNvPr id="26" name="Card4"/>
          <p:cNvSpPr/>
          <p:nvPr/>
        </p:nvSpPr>
        <p:spPr>
          <a:xfrm>
            <a:off x="4338320" y="3733080"/>
            <a:ext cx="3515360" cy="18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CardCircle4"/>
          <p:cNvSpPr/>
          <p:nvPr/>
        </p:nvSpPr>
        <p:spPr>
          <a:xfrm>
            <a:off x="4566920" y="3961680"/>
            <a:ext cx="460000" cy="460000"/>
          </a:xfrm>
          <a:prstGeom prst="ellipse">
            <a:avLst/>
          </a:prstGeom>
          <a:solidFill>
            <a:srgbClr val="72835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" name="CardGlyph4"/>
          <p:cNvSpPr/>
          <p:nvPr/>
        </p:nvSpPr>
        <p:spPr>
          <a:xfrm>
            <a:off x="4676920" y="4071680"/>
            <a:ext cx="240000" cy="240000"/>
          </a:xfrm>
          <a:prstGeom prst="gear6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9" name="CardHead4"/>
          <p:cNvSpPr/>
          <p:nvPr/>
        </p:nvSpPr>
        <p:spPr>
          <a:xfrm>
            <a:off x="4566920" y="4513120"/>
            <a:ext cx="305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of Wellness</a:t>
            </a:r>
            <a:endParaRPr lang="en-US" sz="1300" dirty="0"/>
          </a:p>
        </p:txBody>
      </p:sp>
      <p:sp>
        <p:nvSpPr>
          <p:cNvPr id="30" name="CardDesc4"/>
          <p:cNvSpPr/>
          <p:nvPr/>
        </p:nvSpPr>
        <p:spPr>
          <a:xfrm>
            <a:off x="4566920" y="4878880"/>
            <a:ext cx="305816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healthy choices ripple for generations.</a:t>
            </a:r>
            <a:endParaRPr lang="en-US" sz="1050" dirty="0"/>
          </a:p>
        </p:txBody>
      </p:sp>
      <p:sp>
        <p:nvSpPr>
          <p:cNvPr id="31" name="Card5"/>
          <p:cNvSpPr/>
          <p:nvPr/>
        </p:nvSpPr>
        <p:spPr>
          <a:xfrm>
            <a:off x="8128000" y="3733080"/>
            <a:ext cx="3515360" cy="18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CardCircle5"/>
          <p:cNvSpPr/>
          <p:nvPr/>
        </p:nvSpPr>
        <p:spPr>
          <a:xfrm>
            <a:off x="8356600" y="3961680"/>
            <a:ext cx="460000" cy="460000"/>
          </a:xfrm>
          <a:prstGeom prst="ellipse">
            <a:avLst/>
          </a:prstGeom>
          <a:solidFill>
            <a:srgbClr val="72835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3" name="CardGlyph5"/>
          <p:cNvSpPr/>
          <p:nvPr/>
        </p:nvSpPr>
        <p:spPr>
          <a:xfrm>
            <a:off x="8466600" y="4071680"/>
            <a:ext cx="240000" cy="240000"/>
          </a:xfrm>
          <a:prstGeom prst="chartPlus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4" name="CardHead5"/>
          <p:cNvSpPr/>
          <p:nvPr/>
        </p:nvSpPr>
        <p:spPr>
          <a:xfrm>
            <a:off x="8356600" y="4513120"/>
            <a:ext cx="305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Value</a:t>
            </a:r>
            <a:endParaRPr lang="en-US" sz="1300" dirty="0"/>
          </a:p>
        </p:txBody>
      </p:sp>
      <p:sp>
        <p:nvSpPr>
          <p:cNvPr id="35" name="CardDesc5"/>
          <p:cNvSpPr/>
          <p:nvPr/>
        </p:nvSpPr>
        <p:spPr>
          <a:xfrm>
            <a:off x="8356600" y="4878880"/>
            <a:ext cx="305816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your health today, for tomorrow.</a:t>
            </a:r>
            <a:endParaRPr lang="en-US" sz="1050" dirty="0"/>
          </a:p>
        </p:txBody>
      </p:sp>
      <p:sp>
        <p:nvSpPr>
          <p:cNvPr id="36" name="GoalBanner"/>
          <p:cNvSpPr/>
          <p:nvPr/>
        </p:nvSpPr>
        <p:spPr>
          <a:xfrm>
            <a:off x="548640" y="5783080"/>
            <a:ext cx="11094720" cy="600000"/>
          </a:xfrm>
          <a:prstGeom prst="roundRect">
            <a:avLst/>
          </a:prstGeom>
          <a:solidFill>
            <a:srgbClr val="4E623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7" name="GoalText"/>
          <p:cNvSpPr/>
          <p:nvPr/>
        </p:nvSpPr>
        <p:spPr>
          <a:xfrm>
            <a:off x="914400" y="5783080"/>
            <a:ext cx="103632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goal: </a:t>
            </a:r>
            <a:r>
              <a:rPr lang="en-US" sz="1500" i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maximize your health span and protect your lifespan.</a:t>
            </a:r>
            <a:endParaRPr lang="en-US" sz="1500" dirty="0"/>
          </a:p>
        </p:txBody>
      </p:sp>
      <p:sp>
        <p:nvSpPr>
          <p:cNvPr id="38" name="PageNum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OPTIMIZE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MedLYFE Optimization Pyramid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deeper than basic checkups: advanced diagnostics first, then structured layers of optimization — every program moves from insight to action to tracking.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71800" y="2057400"/>
            <a:ext cx="2377440" cy="627888"/>
          </a:xfrm>
          <a:prstGeom prst="rect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154680" y="2057400"/>
            <a:ext cx="20116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/ Advanced Interventions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96896" y="2776728"/>
            <a:ext cx="3127248" cy="627888"/>
          </a:xfrm>
          <a:prstGeom prst="rect">
            <a:avLst/>
          </a:prstGeom>
          <a:solidFill>
            <a:srgbClr val="72835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2779776" y="2758440"/>
            <a:ext cx="2761488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Optimization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21992" y="3471672"/>
            <a:ext cx="3877056" cy="627888"/>
          </a:xfrm>
          <a:prstGeom prst="rect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404872" y="3459480"/>
            <a:ext cx="3511296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Technology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847088" y="4221480"/>
            <a:ext cx="4626864" cy="627888"/>
          </a:xfrm>
          <a:prstGeom prst="rect">
            <a:avLst/>
          </a:prstGeom>
          <a:solidFill>
            <a:srgbClr val="72835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029968" y="4160520"/>
            <a:ext cx="4261104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Supplementation &amp; IV / NAD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472184" y="4898136"/>
            <a:ext cx="5376672" cy="627888"/>
          </a:xfrm>
          <a:prstGeom prst="rect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1655064" y="4861560"/>
            <a:ext cx="501091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Architecture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71880" y="5635752"/>
            <a:ext cx="6126480" cy="627888"/>
          </a:xfrm>
          <a:prstGeom prst="rect">
            <a:avLst/>
          </a:prstGeom>
          <a:solidFill>
            <a:srgbClr val="4E623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1280160" y="5562600"/>
            <a:ext cx="57607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Diagnostics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0" y="1156970"/>
            <a:ext cx="4206240" cy="4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prescribe transformation before we understand the person.</a:t>
            </a:r>
            <a:endParaRPr lang="en-US" sz="12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322" y="3566160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9711" y="2237232"/>
            <a:ext cx="4412289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PRP . Exosomes . Stem Cell Support .Advanced Aesthetics/ Regenerative Therapies.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Peptides. Hormone Optimization .Gut / Metabolic Support . Targeted Prescriptions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Red Light .  Compression Therapy . Brain Wellness-Neuro Calm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Oral Supplements . IV Nutrient Therapy . NAD+ Therapy . Targeted  Nutraceuticals.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/>
              <a:t>Sleep . Nutrition . Movement .Stress Management . Recovery </a:t>
            </a: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444804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 flipV="1">
            <a:off x="7863840" y="4986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907024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63840" y="5701792"/>
            <a:ext cx="3942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Age Testing . Genetic Prediction .  Advanced Biomarkers .Microbiome Testing . Hormone Analysis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66BF3672-9C46-ADBA-0849-B08A0725C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564" y="5097526"/>
            <a:ext cx="292608" cy="292608"/>
          </a:xfrm>
          <a:prstGeom prst="rect">
            <a:avLst/>
          </a:prstGeom>
        </p:spPr>
      </p:pic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F7896599-1A9F-929E-A6C5-520648CE9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564" y="2759202"/>
            <a:ext cx="292608" cy="292608"/>
          </a:xfrm>
          <a:prstGeom prst="rect">
            <a:avLst/>
          </a:prstGeom>
        </p:spPr>
      </p:pic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539158CF-FD0C-D13B-A495-9284A9A3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406640" y="1968246"/>
            <a:ext cx="297290" cy="311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ADVANCED DIAGNOSTICS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guess. We test, then we act.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Midlife is when people start feeling the gap — energy, sleep, hormones and resilience shift before disease shows up. Advanced diagnostics uncover the root cause, so the plan is built around real data, not guesswork.</a:t>
            </a:r>
            <a:endParaRPr lang="en-US" sz="1300" dirty="0"/>
          </a:p>
        </p:txBody>
      </p:sp>
      <p:pic>
        <p:nvPicPr>
          <p:cNvPr id="5" name="Image 0" descr="/mnt/user-data/uploads/IMG_2108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26680" y="1188720"/>
            <a:ext cx="393192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377440"/>
            <a:ext cx="6583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496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before treatment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28529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full picture — biomarkers, risk and root cause — before any program begins.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657600"/>
            <a:ext cx="6583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776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built on evidence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371600" y="41330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traces back to your own data, not generic advice.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4937760"/>
            <a:ext cx="6583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5780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5056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you can track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371600" y="54132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 means we can measure real change, visit after visit.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clear ladder: entry → core → complete longevity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path that fits where you are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206240"/>
          </a:xfrm>
          <a:prstGeom prst="rect">
            <a:avLst/>
          </a:prstGeom>
          <a:solidFill>
            <a:srgbClr val="F0F2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1554480"/>
          </a:xfrm>
          <a:prstGeom prst="rect">
            <a:avLst/>
          </a:prstGeom>
          <a:solidFill>
            <a:srgbClr val="72835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A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HOURS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MedLYFE Longevity Day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942080"/>
            <a:ext cx="3108960" cy="18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A Premium First Step</a:t>
            </a:r>
            <a:br>
              <a:rPr lang="en-US" sz="1200" dirty="0"/>
            </a:br>
            <a:r>
              <a:rPr lang="en-US" sz="1200" i="1" dirty="0"/>
              <a:t>Setting the tone from day one</a:t>
            </a:r>
          </a:p>
          <a:p>
            <a:endParaRPr lang="en-US" sz="1200" dirty="0"/>
          </a:p>
          <a:p>
            <a:r>
              <a:rPr lang="en-US" sz="1200" b="1" dirty="0"/>
              <a:t>Health Check</a:t>
            </a:r>
          </a:p>
          <a:p>
            <a:endParaRPr lang="en-US" sz="1200" dirty="0"/>
          </a:p>
          <a:p>
            <a:r>
              <a:rPr lang="en-US" sz="1200" dirty="0"/>
              <a:t> </a:t>
            </a:r>
            <a:r>
              <a:rPr lang="en-US" sz="1200" b="1" dirty="0"/>
              <a:t>Consultations</a:t>
            </a:r>
          </a:p>
          <a:p>
            <a:endParaRPr lang="en-US" sz="1200" dirty="0"/>
          </a:p>
          <a:p>
            <a:r>
              <a:rPr lang="en-US" sz="1200" dirty="0"/>
              <a:t> </a:t>
            </a:r>
            <a:r>
              <a:rPr lang="en-US" sz="1200" b="1" dirty="0"/>
              <a:t>IV / NAD Therapy</a:t>
            </a:r>
          </a:p>
          <a:p>
            <a:endParaRPr lang="en-US" sz="1200" dirty="0"/>
          </a:p>
          <a:p>
            <a:r>
              <a:rPr lang="en-US" sz="1200" b="1" dirty="0"/>
              <a:t>Recovery/reset experience</a:t>
            </a:r>
          </a:p>
          <a:p>
            <a:endParaRPr lang="en-US" sz="1200" dirty="0"/>
          </a:p>
          <a:p>
            <a:r>
              <a:rPr lang="en-US" sz="1200" b="1" dirty="0"/>
              <a:t>Skin reset</a:t>
            </a:r>
          </a:p>
          <a:p>
            <a:endParaRPr lang="en-US" sz="1200" dirty="0"/>
          </a:p>
          <a:p>
            <a:endParaRPr lang="en-US" sz="1200" b="1" dirty="0"/>
          </a:p>
          <a:p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60520" y="3611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3400" y="1783080"/>
            <a:ext cx="3611880" cy="4206240"/>
          </a:xfrm>
          <a:prstGeom prst="rect">
            <a:avLst/>
          </a:prstGeom>
          <a:solidFill>
            <a:srgbClr val="F0F2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251960" y="1753616"/>
            <a:ext cx="3611880" cy="1554480"/>
          </a:xfrm>
          <a:prstGeom prst="rect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5740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A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1772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Optimization Programs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26280" y="457200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/>
              <a:t> </a:t>
            </a:r>
            <a:r>
              <a:rPr lang="en-US" sz="1200" dirty="0"/>
              <a:t>A structured pathway to sustained transformation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Weight &amp; Metabolic</a:t>
            </a:r>
          </a:p>
          <a:p>
            <a:endParaRPr lang="en-US" sz="1200" dirty="0"/>
          </a:p>
          <a:p>
            <a:r>
              <a:rPr lang="en-US" sz="1200" b="1" dirty="0"/>
              <a:t>Skin , Hair &amp; Aesthetics</a:t>
            </a:r>
          </a:p>
          <a:p>
            <a:endParaRPr lang="en-US" sz="1200" dirty="0"/>
          </a:p>
          <a:p>
            <a:r>
              <a:rPr lang="en-US" sz="1200" b="1" dirty="0"/>
              <a:t>Hormone &amp; Sexual health</a:t>
            </a:r>
          </a:p>
          <a:p>
            <a:endParaRPr lang="en-US" sz="1200" dirty="0"/>
          </a:p>
          <a:p>
            <a:r>
              <a:rPr lang="en-US" sz="1200" b="1" dirty="0"/>
              <a:t>Gut</a:t>
            </a:r>
          </a:p>
          <a:p>
            <a:endParaRPr lang="en-US" sz="1200" dirty="0"/>
          </a:p>
          <a:p>
            <a:r>
              <a:rPr lang="en-US" sz="1200" b="1" dirty="0"/>
              <a:t>Sleep Optimization</a:t>
            </a:r>
          </a:p>
          <a:p>
            <a:endParaRPr lang="en-US" sz="1200" dirty="0"/>
          </a:p>
          <a:p>
            <a:endParaRPr lang="en-US" sz="1200" b="1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dirty="0"/>
          </a:p>
          <a:p>
            <a:r>
              <a:rPr lang="en-US" sz="1200" dirty="0"/>
              <a:t> </a:t>
            </a:r>
          </a:p>
        </p:txBody>
      </p:sp>
      <p:sp>
        <p:nvSpPr>
          <p:cNvPr id="18" name="Text 14"/>
          <p:cNvSpPr/>
          <p:nvPr/>
        </p:nvSpPr>
        <p:spPr>
          <a:xfrm>
            <a:off x="7955280" y="3611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138160" y="1783080"/>
            <a:ext cx="3611880" cy="4206240"/>
          </a:xfrm>
          <a:prstGeom prst="rect">
            <a:avLst/>
          </a:prstGeom>
          <a:solidFill>
            <a:srgbClr val="F0F2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6"/>
          <p:cNvSpPr/>
          <p:nvPr/>
        </p:nvSpPr>
        <p:spPr>
          <a:xfrm>
            <a:off x="8138160" y="1783080"/>
            <a:ext cx="3611880" cy="1554480"/>
          </a:xfrm>
          <a:prstGeom prst="rect">
            <a:avLst/>
          </a:prstGeom>
          <a:solidFill>
            <a:srgbClr val="4E623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5740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A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41248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MedLYFE 360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12480" y="342900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/>
              <a:t>The definitive 6–12 month transformation journey</a:t>
            </a:r>
          </a:p>
          <a:p>
            <a:endParaRPr lang="en-US" sz="1200" dirty="0"/>
          </a:p>
          <a:p>
            <a:r>
              <a:rPr lang="en-US" sz="1200" b="1" dirty="0"/>
              <a:t>Advanced Diagnostics</a:t>
            </a:r>
          </a:p>
          <a:p>
            <a:endParaRPr lang="en-US" sz="1200" dirty="0"/>
          </a:p>
          <a:p>
            <a:r>
              <a:rPr lang="en-US" sz="1200" dirty="0"/>
              <a:t> </a:t>
            </a:r>
            <a:r>
              <a:rPr lang="en-US" sz="1200" b="1" dirty="0"/>
              <a:t>Coaching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b="1" dirty="0"/>
              <a:t>Wellness Technology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b="1" dirty="0"/>
              <a:t>Reviews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b="1" dirty="0"/>
              <a:t>Executive-Level Support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path costs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pricing — your exact investment is confirmed after your diagnostic consultation.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206240"/>
          </a:xfrm>
          <a:prstGeom prst="rect">
            <a:avLst/>
          </a:prstGeom>
          <a:solidFill>
            <a:srgbClr val="F0F2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1554480"/>
          </a:xfrm>
          <a:prstGeom prst="rect">
            <a:avLst/>
          </a:prstGeom>
          <a:solidFill>
            <a:srgbClr val="72835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A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HOURS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MedLYFE Longevity Day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520000"/>
            <a:ext cx="3108960" cy="224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728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₦50,000+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single-day visit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1150" dirty="0">
                <a:solidFill>
                  <a:srgbClr val="3F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cost depends on the specific service selected — diagnostics, IV therapy or recovery add-ons.</a:t>
            </a:r>
          </a:p>
        </p:txBody>
      </p:sp>
      <p:sp>
        <p:nvSpPr>
          <p:cNvPr id="11" name="Text 8"/>
          <p:cNvSpPr/>
          <p:nvPr/>
        </p:nvSpPr>
        <p:spPr>
          <a:xfrm>
            <a:off x="4160520" y="3611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3400" y="1783080"/>
            <a:ext cx="3611880" cy="4206240"/>
          </a:xfrm>
          <a:prstGeom prst="rect">
            <a:avLst/>
          </a:prstGeom>
          <a:solidFill>
            <a:srgbClr val="F0F2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251960" y="1753616"/>
            <a:ext cx="3611880" cy="1554480"/>
          </a:xfrm>
          <a:prstGeom prst="rect">
            <a:avLst/>
          </a:prstGeom>
          <a:solidFill>
            <a:srgbClr val="667A4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5740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A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1772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Optimization Programs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26280" y="3520000"/>
            <a:ext cx="3246120" cy="224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66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₦500,000+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3–6 month program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1150" dirty="0">
                <a:solidFill>
                  <a:srgbClr val="3F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varies by focus area — weight, hormones, skin, gut or sleep — and diagnostic depth.</a:t>
            </a:r>
          </a:p>
        </p:txBody>
      </p:sp>
      <p:sp>
        <p:nvSpPr>
          <p:cNvPr id="18" name="Text 14"/>
          <p:cNvSpPr/>
          <p:nvPr/>
        </p:nvSpPr>
        <p:spPr>
          <a:xfrm>
            <a:off x="7955280" y="3611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138160" y="1783080"/>
            <a:ext cx="3611880" cy="4206240"/>
          </a:xfrm>
          <a:prstGeom prst="rect">
            <a:avLst/>
          </a:prstGeom>
          <a:solidFill>
            <a:srgbClr val="F0F2E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6"/>
          <p:cNvSpPr/>
          <p:nvPr/>
        </p:nvSpPr>
        <p:spPr>
          <a:xfrm>
            <a:off x="8138160" y="1783080"/>
            <a:ext cx="3611880" cy="1554480"/>
          </a:xfrm>
          <a:prstGeom prst="rect">
            <a:avLst/>
          </a:prstGeom>
          <a:solidFill>
            <a:srgbClr val="4E623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5740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EA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41248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MedLYFE 360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12480" y="3520000"/>
            <a:ext cx="3063240" cy="224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₦3,000,000+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6–12 month journey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1150" dirty="0">
                <a:solidFill>
                  <a:srgbClr val="3F3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advanced diagnostics, coaching, wellness technology and executive-level support.</a:t>
            </a:r>
          </a:p>
        </p:txBody>
      </p:sp>
      <p:sp>
        <p:nvSpPr>
          <p:cNvPr id="25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E6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your plan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need to wait for disease to start optimizing. The next step is simple — book your Longevity Day or a full consultation, and we'll recommend the program pathway that fits your goals.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visit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33558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Longevity Day or schedule a full consultation with our team.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886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our physicians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43000" y="42245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goals, history and concerns with a doctor-led care team.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463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754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plan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43000" y="50932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structured pathway, backed by diagnostics and ongoing tracking.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863840" y="1188720"/>
            <a:ext cx="3749040" cy="502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0"/>
          <p:cNvSpPr/>
          <p:nvPr/>
        </p:nvSpPr>
        <p:spPr>
          <a:xfrm>
            <a:off x="818388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6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medLYFE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Longevity Centre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83880" y="2331720"/>
            <a:ext cx="310896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3"/>
          <p:cNvSpPr/>
          <p:nvPr/>
        </p:nvSpPr>
        <p:spPr>
          <a:xfrm>
            <a:off x="8183880" y="25603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us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Lekki, Lagos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 WhatsApp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at reception
or ask our front desk team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 guaranteed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physician-led care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890</Words>
  <Application>Microsoft Office PowerPoint</Application>
  <PresentationFormat>Widescreen</PresentationFormat>
  <Paragraphs>195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MedLYFE — Discovery Call Mini-Deck</dc:title>
  <dc:subject>PptxGenJS Presentation</dc:subject>
  <dc:creator>MedLYFE</dc:creator>
  <cp:lastModifiedBy>Adedotun Ahmed</cp:lastModifiedBy>
  <cp:revision>5</cp:revision>
  <dcterms:created xsi:type="dcterms:W3CDTF">2026-06-30T08:30:19Z</dcterms:created>
  <dcterms:modified xsi:type="dcterms:W3CDTF">2026-08-10T09:36:55Z</dcterms:modified>
</cp:coreProperties>
</file>