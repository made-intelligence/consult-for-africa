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934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889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9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45400" y="127000"/>
            <a:ext cx="3048000" cy="74295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4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87400"/>
            <a:ext cx="1710414" cy="40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2133600"/>
            <a:ext cx="5588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87600"/>
            <a:ext cx="635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 spc="260">
                <a:solidFill>
                  <a:srgbClr val="1F7A8C"/>
                </a:solidFill>
                <a:latin typeface="Arial"/>
              </a:rPr>
              <a:t>FOR PRIVATE HOSPITALS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8600"/>
            <a:ext cx="660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200"/>
              </a:lnSpc>
            </a:pPr>
            <a:r>
              <a:rPr b="1" i="0" sz="3400">
                <a:solidFill>
                  <a:srgbClr val="182448"/>
                </a:solidFill>
                <a:latin typeface="Georgia"/>
              </a:rPr>
              <a:t>What we do for private hospitals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91000"/>
            <a:ext cx="635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500">
                <a:solidFill>
                  <a:srgbClr val="6B7280"/>
                </a:solidFill>
                <a:latin typeface="Georgia"/>
              </a:rPr>
              <a:t>Recovering what you are owed, bringing in patients, filling posts and fixing what slows the hospital down. Run by people who have run hospitals.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5245100"/>
            <a:ext cx="66294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5435600"/>
            <a:ext cx="203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00" spc="190">
                <a:solidFill>
                  <a:srgbClr val="1F7A8C"/>
                </a:solidFill>
                <a:latin typeface="Arial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42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050">
                <a:solidFill>
                  <a:srgbClr val="0B3C5D"/>
                </a:solidFill>
                <a:latin typeface="Arial"/>
              </a:rPr>
              <a:t>Consult for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4800" y="5435600"/>
            <a:ext cx="203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00" spc="190">
                <a:solidFill>
                  <a:srgbClr val="1F7A8C"/>
                </a:solidFill>
                <a:latin typeface="Arial"/>
              </a:rPr>
              <a:t>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800" y="56642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050">
                <a:solidFill>
                  <a:srgbClr val="0B3C5D"/>
                </a:solidFill>
                <a:latin typeface="Arial"/>
              </a:rPr>
              <a:t>Lagos and Abuja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800" y="5435600"/>
            <a:ext cx="203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00" spc="190">
                <a:solidFill>
                  <a:srgbClr val="1F7A8C"/>
                </a:solidFill>
                <a:latin typeface="Arial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56642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050">
                <a:solidFill>
                  <a:srgbClr val="0B3C5D"/>
                </a:solidFill>
                <a:latin typeface="Arial"/>
              </a:rPr>
              <a:t>consultforafrica.com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37300"/>
            <a:ext cx="635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900">
                <a:solidFill>
                  <a:srgbClr val="6B7280"/>
                </a:solidFill>
                <a:latin typeface="Arial"/>
              </a:rPr>
              <a:t>A basis for a conversation, not an offer of terms.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ON ONE PAGE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We take the hardest parts of running a hospital off your desk, and we stay until they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33600"/>
            <a:ext cx="2216150" cy="12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33600"/>
            <a:ext cx="63500" cy="127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6800"/>
            <a:ext cx="18351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600"/>
              </a:lnSpc>
            </a:pPr>
            <a:r>
              <a:rPr b="1" i="0" sz="2200">
                <a:solidFill>
                  <a:srgbClr val="0B3C5D"/>
                </a:solidFill>
                <a:latin typeface="Georgia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17800"/>
            <a:ext cx="18351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0" i="0" sz="1000">
                <a:solidFill>
                  <a:srgbClr val="1F2937"/>
                </a:solidFill>
                <a:latin typeface="Arial"/>
              </a:rPr>
              <a:t>first review of your unpaid HMO and corporate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4350" y="2133600"/>
            <a:ext cx="2216150" cy="12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4350" y="2133600"/>
            <a:ext cx="63500" cy="127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950" y="2336800"/>
            <a:ext cx="18351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600"/>
              </a:lnSpc>
            </a:pPr>
            <a:r>
              <a:rPr b="1" i="0" sz="2200">
                <a:solidFill>
                  <a:srgbClr val="0B3C5D"/>
                </a:solidFill>
                <a:latin typeface="Georgia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950" y="2717800"/>
            <a:ext cx="18351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0" i="0" sz="1000">
                <a:solidFill>
                  <a:srgbClr val="1F2937"/>
                </a:solidFill>
                <a:latin typeface="Arial"/>
              </a:rPr>
              <a:t>recovery is paid from what we collect, nothing on money we do not bring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22900" y="2133600"/>
            <a:ext cx="2216150" cy="12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2900" y="2133600"/>
            <a:ext cx="63500" cy="127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1500" y="2336800"/>
            <a:ext cx="18351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600"/>
              </a:lnSpc>
            </a:pPr>
            <a:r>
              <a:rPr b="1" i="0" sz="2200">
                <a:solidFill>
                  <a:srgbClr val="0B3C5D"/>
                </a:solidFill>
                <a:latin typeface="Georgia"/>
              </a:rPr>
              <a:t>Operators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1500" y="2717800"/>
            <a:ext cx="18351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0" i="0" sz="1000">
                <a:solidFill>
                  <a:srgbClr val="1F2937"/>
                </a:solidFill>
                <a:latin typeface="Arial"/>
              </a:rPr>
              <a:t>former hospital chief executives and clinical leaders on the ground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1450" y="2133600"/>
            <a:ext cx="2216150" cy="12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1450" y="2133600"/>
            <a:ext cx="63500" cy="127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0050" y="2336800"/>
            <a:ext cx="18351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600"/>
              </a:lnSpc>
            </a:pPr>
            <a:r>
              <a:rPr b="1" i="0" sz="2200">
                <a:solidFill>
                  <a:srgbClr val="0B3C5D"/>
                </a:solidFill>
                <a:latin typeface="Georgia"/>
              </a:rPr>
              <a:t>One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050" y="2717800"/>
            <a:ext cx="183515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0" i="0" sz="1000">
                <a:solidFill>
                  <a:srgbClr val="1F2937"/>
                </a:solidFill>
                <a:latin typeface="Arial"/>
              </a:rPr>
              <a:t>take one service or several; most hospitals widen the work once it pays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830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1F7A8C"/>
                </a:solidFill>
                <a:latin typeface="Arial"/>
              </a:rPr>
              <a:t>WHAT WE 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010342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37000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Claims and debt recovery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Unpaid HMO, corporate and scheme claims, recovered claim by claim.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641278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67936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Patients and referrals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Healthcare marketing that is measured in admissions.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72214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98872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Turnaround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Cash, cost and revenue control when the numbers turn.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90315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29808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Organisational audit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Ten domains, one report, the decisions in order.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99100" y="4010342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7700" y="3937000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Strategy and growth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Service lines, pricing, new sites and structuring.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9100" y="4641278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27700" y="4567936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People and leadership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Recruitment, locums, assessment, HR and interim leaders.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9100" y="5272214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27700" y="5198872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Governance and quality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Clinical governance, accreditation and board set up.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99100" y="590315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27700" y="5829808"/>
            <a:ext cx="4279900" cy="554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0B3C5D"/>
                </a:solidFill>
                <a:latin typeface="Arial"/>
              </a:rPr>
              <a:t>Systems and specialists</a:t>
            </a:r>
          </a:p>
          <a:p>
            <a:pPr algn="l">
              <a:lnSpc>
                <a:spcPct val="118680"/>
              </a:lnSpc>
              <a:spcBef>
                <a:spcPts val="200"/>
              </a:spcBef>
            </a:pPr>
            <a:r>
              <a:rPr b="0" i="0" sz="1050">
                <a:solidFill>
                  <a:srgbClr val="1F2937"/>
                </a:solidFill>
                <a:latin typeface="Arial"/>
              </a:rPr>
              <a:t>Hospital systems, dashboards and diaspora consultants.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Start with a free claims review, or a forty five minute conversation about the one thing that worries you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WHY US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The difference is who is standing in the hospital when the plan has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2800"/>
            <a:ext cx="9321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250">
                <a:solidFill>
                  <a:srgbClr val="6B7280"/>
                </a:solidFill>
                <a:latin typeface="Georgia"/>
              </a:rPr>
              <a:t>Most advisers diagnose and leave. We have run hospitals, so we diagnose and then stay to deliver.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67000"/>
            <a:ext cx="4533900" cy="33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" y="2667000"/>
            <a:ext cx="4152900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900" spc="140">
                <a:solidFill>
                  <a:srgbClr val="6B7280"/>
                </a:solidFill>
                <a:latin typeface="Arial"/>
              </a:rPr>
              <a:t>THE USUAL ADVISER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3700" y="2667000"/>
            <a:ext cx="4533900" cy="330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76900" y="2667000"/>
            <a:ext cx="4152900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900" spc="140">
                <a:solidFill>
                  <a:srgbClr val="D4AF37"/>
                </a:solidFill>
                <a:latin typeface="Arial"/>
              </a:rPr>
              <a:t>CONSULT FOR AFRICA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98800"/>
            <a:ext cx="4533900" cy="635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000" y="30988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250">
                <a:solidFill>
                  <a:srgbClr val="6B7280"/>
                </a:solidFill>
                <a:latin typeface="Arial"/>
              </a:rPr>
              <a:t>Writes the report, then leaves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73700" y="3098800"/>
            <a:ext cx="45339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73700" y="3098800"/>
            <a:ext cx="50800" cy="635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900" y="30988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Writes less, then stays to deliver 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73700" y="3733800"/>
            <a:ext cx="45339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3810000"/>
            <a:ext cx="4533900" cy="635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000" y="38100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250">
                <a:solidFill>
                  <a:srgbClr val="6B7280"/>
                </a:solidFill>
                <a:latin typeface="Arial"/>
              </a:rPr>
              <a:t>Partners sell, juniors deliver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73700" y="3810000"/>
            <a:ext cx="45339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73700" y="3810000"/>
            <a:ext cx="50800" cy="635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76900" y="38100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Former hospital chief executives and clinicians do the 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73700" y="4445000"/>
            <a:ext cx="45339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5800" y="4521200"/>
            <a:ext cx="4533900" cy="635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000" y="45212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250">
                <a:solidFill>
                  <a:srgbClr val="6B7280"/>
                </a:solidFill>
                <a:latin typeface="Arial"/>
              </a:rPr>
              <a:t>Frameworks from other markets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73700" y="4521200"/>
            <a:ext cx="45339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73700" y="4521200"/>
            <a:ext cx="50800" cy="635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76900" y="45212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Built for Nigerian payers, costs and staffing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73700" y="5156200"/>
            <a:ext cx="45339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85800" y="5232400"/>
            <a:ext cx="4533900" cy="635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000" y="52324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250">
                <a:solidFill>
                  <a:srgbClr val="6B7280"/>
                </a:solidFill>
                <a:latin typeface="Arial"/>
              </a:rPr>
              <a:t>Judged on the document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3700" y="5232400"/>
            <a:ext cx="45339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73700" y="5232400"/>
            <a:ext cx="50800" cy="635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76900" y="52324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Judged on cash collected, patients seen and posts filled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73700" y="5867400"/>
            <a:ext cx="45339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85800" y="5943600"/>
            <a:ext cx="4533900" cy="635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000" y="59436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1250">
                <a:solidFill>
                  <a:srgbClr val="6B7280"/>
                </a:solidFill>
                <a:latin typeface="Arial"/>
              </a:rPr>
              <a:t>Leaves you dependent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73700" y="5943600"/>
            <a:ext cx="45339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73700" y="5943600"/>
            <a:ext cx="50800" cy="635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76900" y="5943600"/>
            <a:ext cx="41529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Hands over systems your team can run without us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73700" y="6578600"/>
            <a:ext cx="4533900" cy="0"/>
          </a:xfrm>
          <a:prstGeom prst="line">
            <a:avLst/>
          </a:prstGeom>
          <a:ln w="11430">
            <a:solidFill>
              <a:srgbClr val="DED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CLAIMS AND DEBT RECOVERY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Most of what HMOs owe you is disputed, not refused. Settle the dispute and the claim gets paid.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2800"/>
            <a:ext cx="6146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250">
                <a:solidFill>
                  <a:srgbClr val="6B7280"/>
                </a:solidFill>
                <a:latin typeface="Georgia"/>
              </a:rPr>
              <a:t>We recover unpaid HMO, corporate and scheme claims claim by claim, with the people at the payor who decide.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Check every claim first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Against the payor's tariff, the authorisation record and the paperwork. Claims that will not pay as they stand are repaired before anyone chases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81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81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67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Reconcile with each payor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Match what you billed against what each payor says it owes, and clear the difference with their claims lead.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Follow up, escalate, settle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Retrospective authorisations agreed, missing notes resubmitted inside the window, short payments negotiated case by 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81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81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67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See every claim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You see each claim's status from submission to cash, the same view we work from.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2000" y="2667000"/>
            <a:ext cx="2895600" cy="3251200"/>
          </a:xfrm>
          <a:prstGeom prst="roundRect">
            <a:avLst>
              <a:gd name="adj" fmla="val 3508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600" y="289560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D4AF37"/>
                </a:solidFill>
                <a:latin typeface="Arial"/>
              </a:rPr>
              <a:t>YOU NEED THIS 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0600" y="33020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258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Receivables older than ninety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0600" y="40386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9624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HMOs paying less than you billed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40600" y="47752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46990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Nobody owns the reconciliation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The first review is free. After that we are paid from what we recover, so there is no fee on money we do not bring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PATIENTS AND REFERRALS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A marketing agency that measures admissions and referrals, not impressions.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2800"/>
            <a:ext cx="6146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250">
                <a:solidFill>
                  <a:srgbClr val="6B7280"/>
                </a:solidFill>
                <a:latin typeface="Georgia"/>
              </a:rPr>
              <a:t>A specialist healthcare marketing team inside a firm that has run hospitals, so the campaign is built around how patients and doctors actually choose.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Position the hospital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What you are known for, who it is for and why a patient or a referring doctor should choose you over the hospital down the road.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81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81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67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Bring patients in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Search, social, community and corporate campaigns, written with your clinicians and checked for compliance before they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Build the referral base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A known list of the doctors, clinics and HMOs who send you patients, and a plan to grow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81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81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67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Prove it worked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A live view of enquiries, bookings and the revenue they became, so spend follows what converts.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2000" y="2667000"/>
            <a:ext cx="2895600" cy="3251200"/>
          </a:xfrm>
          <a:prstGeom prst="roundRect">
            <a:avLst>
              <a:gd name="adj" fmla="val 3508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600" y="289560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D4AF37"/>
                </a:solidFill>
                <a:latin typeface="Arial"/>
              </a:rPr>
              <a:t>YOU NEED THIS 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0600" y="33020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258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Beds or clinics running below 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0600" y="40386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9624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Marketing spend you cannot trace to patients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40600" y="47752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46990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Referrals concentrated in a few doctors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Monthly retainer, a fixed price project, or both. We agree the numbers it will be judged on before it starts.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TURNAROUND AND FINANCIAL PERFORMANCE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When cash tightens, the hospital needs control back before it needs a strategy.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2800"/>
            <a:ext cx="6146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250">
                <a:solidFill>
                  <a:srgbClr val="6B7280"/>
                </a:solidFill>
                <a:latin typeface="Georgia"/>
              </a:rPr>
              <a:t>We stop the leaks, steady the cash and put a reporting rhythm in place that management can keep after we leave.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Revenue capture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Billing integrity, price realisation, payer reconciliation and the charges that never reach an invoice.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81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81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67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Cost discipline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Procurement, pharmacy and consumable leakage, and staff cost against revenue.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Productivity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Theatre utilisation, bed days, clinic throughput and diagnostic yield.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81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81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67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Cash and control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A thirteen week cash view, a monthly management pack and a board that sees the same numbers.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2000" y="2667000"/>
            <a:ext cx="2895600" cy="3251200"/>
          </a:xfrm>
          <a:prstGeom prst="roundRect">
            <a:avLst>
              <a:gd name="adj" fmla="val 3508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600" y="289560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D4AF37"/>
                </a:solidFill>
                <a:latin typeface="Arial"/>
              </a:rPr>
              <a:t>YOU NEED THIS 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0600" y="33020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258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Revenue rising while cash falls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0600" y="40386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9624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Salaries are hard to meet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40600" y="47752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46990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The monthly numbers arrive late or not at 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A fixed term management mandate or an embedded team against agreed targets.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ORGANISATIONAL AUDIT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Know what is actually happening in the hospital before you decide what to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2800"/>
            <a:ext cx="6146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1" sz="1250">
                <a:solidFill>
                  <a:srgbClr val="6B7280"/>
                </a:solidFill>
                <a:latin typeface="Georgia"/>
              </a:rPr>
              <a:t>A structured diagnostic across ten domains, from governance and finance to clinical quality and people, delivered as a report the board can act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Evidence, not opinion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Documents, data, site visits, case traces and confidential staff surveys.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8100" y="26670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8100" y="26670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6700" y="28448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Ten domains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Governance, strategy, finance, revenue cycle, clinical quality, operations, people, systems, facilities and patient 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A maturity rating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Where each domain stands today, against what good looks like for a hospital of your size.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8100" y="4368800"/>
            <a:ext cx="2984500" cy="1549400"/>
          </a:xfrm>
          <a:prstGeom prst="roundRect">
            <a:avLst>
              <a:gd name="adj" fmla="val 655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8100" y="4368800"/>
            <a:ext cx="63500" cy="1549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6700" y="4546600"/>
            <a:ext cx="2578100" cy="124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250">
                <a:solidFill>
                  <a:srgbClr val="0B3C5D"/>
                </a:solidFill>
                <a:latin typeface="Arial"/>
              </a:rPr>
              <a:t>Decisions for the board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00">
                <a:solidFill>
                  <a:srgbClr val="1F2937"/>
                </a:solidFill>
                <a:latin typeface="Arial"/>
              </a:rPr>
              <a:t>A short list of decisions in order, with what each one costs and returns.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2000" y="2667000"/>
            <a:ext cx="2895600" cy="3251200"/>
          </a:xfrm>
          <a:prstGeom prst="roundRect">
            <a:avLst>
              <a:gd name="adj" fmla="val 3508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600" y="289560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D4AF37"/>
                </a:solidFill>
                <a:latin typeface="Arial"/>
              </a:rPr>
              <a:t>YOU NEED THIS 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0600" y="33020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258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A new owner, board or chief executive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0600" y="40386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9624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Before a raise, a merger or an expansion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40600" y="4775200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4699000"/>
            <a:ext cx="22352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100"/>
              </a:lnSpc>
            </a:pPr>
            <a:r>
              <a:rPr b="0" i="0" sz="1200">
                <a:solidFill>
                  <a:srgbClr val="FFFFFF"/>
                </a:solidFill>
                <a:latin typeface="Arial"/>
              </a:rPr>
              <a:t>A sense that the numbers and the reality differ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A fixed price project, typically four to eight weeks from site visit to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STRATEGY AND GROWTH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Grow where the demand is, at a price the market will pay.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415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415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193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Service lines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Which services to add, grow or close, from demand, margin and what you are equipped to win.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0" y="18415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0" y="18415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9600" y="20193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Pricing and tariff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Your tariff against the market, HMO dependency, payer mix and self-pay positioning.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211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211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989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New sites and feasibility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Market entry, feasibility studies, business plans and financial models a lender will read.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1000" y="37211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61000" y="37211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9600" y="38989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Structuring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Joint ventures, partnerships with visiting specialists and holding company structures, alongside your counsel.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A fixed price project with a defined output, and an execution phase if you want us alongside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PEOPLE AND LEADERSHIP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Fill the posts, keep the good people, and know who can lead before you appoint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Recruitment and locums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Permanent clinical and non-clinical hires from a verified pool, and locum cover in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96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Leadership assessment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A structured assessment of every senior candidate or sitting leader, with coaching where it helps.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HR that runs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Payroll, onboarding, staff recognition and an anonymous staff pulse, set up and handed 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10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610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96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Fractional leadership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An experienced chief operating officer, medical director or commercial lead, two or three days a week.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Per placement, a monthly retainer, or a fractional leader on a fixed term.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GOVERNANCE AND QUALITY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Quality and governance that protect patients and stand up to a regulator, an insurer or a buyer.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Clinical governance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Committees, escalation, incident systems, mortality and morbidity review, and clinical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96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Accreditation readiness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Gap analysis, closure and mock survey for SafeCare, COHSASA and JCI.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Board governance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Board and committee set up, delegation of authority and director 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10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610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96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Regulatory standing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Registration, licensing and inspection readiness with the state and federal regulators.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A gap analysis first, then a readiness programme against a date you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SYSTEMS AND SPECIALISTS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The right systems underneath, and the specialists you cannot hire locally.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Hospital systems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Choosing an EMR or hospital system, overseeing the rollout and digitising the paper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0" y="22352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0" y="22352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9600" y="24130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Dashboards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The few numbers that run the hospital, on one screen, updated without anyone building a spreadsheet.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Diaspora specialists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Senior Nigerian consultants abroad for case review, teaching, visiting lists and service set 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1000" y="4114800"/>
            <a:ext cx="4546600" cy="1676400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61000" y="4114800"/>
            <a:ext cx="63500" cy="1676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9600" y="4292600"/>
            <a:ext cx="4140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Health systems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200">
                <a:solidFill>
                  <a:srgbClr val="1F2937"/>
                </a:solidFill>
                <a:latin typeface="Arial"/>
              </a:rPr>
              <a:t>Programme design for HMOs, state schemes and development partners.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311900"/>
            <a:ext cx="9321800" cy="584200"/>
          </a:xfrm>
          <a:prstGeom prst="roundRect">
            <a:avLst>
              <a:gd name="adj" fmla="val 17391"/>
            </a:avLst>
          </a:prstGeom>
          <a:solidFill>
            <a:srgbClr val="FB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6311900"/>
            <a:ext cx="63500" cy="584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6311900"/>
            <a:ext cx="8813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520"/>
              </a:lnSpc>
            </a:pPr>
            <a:r>
              <a:rPr b="1" i="0" sz="1150">
                <a:solidFill>
                  <a:srgbClr val="0B3C5D"/>
                </a:solidFill>
                <a:latin typeface="Arial"/>
              </a:rPr>
              <a:t>Advisory by the project, and specialists arranged session by session.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HOW WE WORK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Four ways to engage us, and every one is agreed in writing before we 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09800"/>
            <a:ext cx="2216150" cy="2413000"/>
          </a:xfrm>
          <a:prstGeom prst="roundRect">
            <a:avLst>
              <a:gd name="adj" fmla="val 45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09800"/>
            <a:ext cx="63500" cy="241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87600"/>
            <a:ext cx="1809750" cy="210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350">
                <a:solidFill>
                  <a:srgbClr val="0B3C5D"/>
                </a:solidFill>
                <a:latin typeface="Arial"/>
              </a:rPr>
              <a:t>Paid from results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Claims and debt recovery. The first review is free and the fee comes out of what we recover.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350" y="2209800"/>
            <a:ext cx="2216150" cy="2413000"/>
          </a:xfrm>
          <a:prstGeom prst="roundRect">
            <a:avLst>
              <a:gd name="adj" fmla="val 45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54350" y="2209800"/>
            <a:ext cx="63500" cy="241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950" y="2387600"/>
            <a:ext cx="1809750" cy="210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350">
                <a:solidFill>
                  <a:srgbClr val="0B3C5D"/>
                </a:solidFill>
                <a:latin typeface="Arial"/>
              </a:rPr>
              <a:t>Fixed price project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An audit, a strategy, a feasibility study or a recruitment search, with a defined output and 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900" y="2209800"/>
            <a:ext cx="2216150" cy="2413000"/>
          </a:xfrm>
          <a:prstGeom prst="roundRect">
            <a:avLst>
              <a:gd name="adj" fmla="val 45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2900" y="2209800"/>
            <a:ext cx="63500" cy="241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1500" y="2387600"/>
            <a:ext cx="1809750" cy="210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350">
                <a:solidFill>
                  <a:srgbClr val="0B3C5D"/>
                </a:solidFill>
                <a:latin typeface="Arial"/>
              </a:rPr>
              <a:t>Monthly retainer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Marketing, HR or management support that runs month to month against agreed numbers.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1450" y="2209800"/>
            <a:ext cx="2216150" cy="2413000"/>
          </a:xfrm>
          <a:prstGeom prst="roundRect">
            <a:avLst>
              <a:gd name="adj" fmla="val 45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91450" y="2209800"/>
            <a:ext cx="63500" cy="241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0050" y="2387600"/>
            <a:ext cx="1809750" cy="210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350">
                <a:solidFill>
                  <a:srgbClr val="0B3C5D"/>
                </a:solidFill>
                <a:latin typeface="Arial"/>
              </a:rPr>
              <a:t>Embedded team</a:t>
            </a:r>
          </a:p>
          <a:p>
            <a:pPr algn="l">
              <a:lnSpc>
                <a:spcPct val="118680"/>
              </a:lnSpc>
              <a:spcBef>
                <a:spcPts val="4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A turnaround or a fractional leader inside the hospital for a fixed term.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29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1F7A8C"/>
                </a:solidFill>
                <a:latin typeface="Arial"/>
              </a:rPr>
              <a:t>WHAT YOU CAN EXPECT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95912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08600"/>
            <a:ext cx="90932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680"/>
              </a:lnSpc>
            </a:pPr>
            <a:r>
              <a:rPr b="0" i="0" sz="1250">
                <a:solidFill>
                  <a:srgbClr val="1F2937"/>
                </a:solidFill>
                <a:latin typeface="Arial"/>
              </a:rPr>
              <a:t>A named lead who has done the job you are asking us to fix.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716587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9275"/>
            <a:ext cx="90932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680"/>
              </a:lnSpc>
            </a:pPr>
            <a:r>
              <a:rPr b="0" i="0" sz="1250">
                <a:solidFill>
                  <a:srgbClr val="1F2937"/>
                </a:solidFill>
                <a:latin typeface="Arial"/>
              </a:rPr>
              <a:t>Confidentiality: your data stays with us and your name stays out of our marketing unless you say otherwise.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37262"/>
            <a:ext cx="889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949950"/>
            <a:ext cx="9093200" cy="219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680"/>
              </a:lnSpc>
            </a:pPr>
            <a:r>
              <a:rPr b="0" i="0" sz="1250">
                <a:solidFill>
                  <a:srgbClr val="1F2937"/>
                </a:solidFill>
                <a:latin typeface="Arial"/>
              </a:rPr>
              <a:t>A handover, so the improvement outlasts the engagement.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6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06934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23900"/>
            <a:ext cx="3302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477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1050">
                <a:solidFill>
                  <a:srgbClr val="1F7A8C"/>
                </a:solidFill>
                <a:latin typeface="Arial"/>
              </a:rPr>
              <a:t>HOW TO START</a:t>
            </a:r>
          </a:p>
        </p:txBody>
      </p:sp>
      <p:pic>
        <p:nvPicPr>
          <p:cNvPr id="6" name="Picture 5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578" y="609600"/>
            <a:ext cx="323022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7150100"/>
            <a:ext cx="2540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213600"/>
            <a:ext cx="635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Consult for Africa   /   consultforafrica.com   /   Lagos and Abuja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0" y="72136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1800"/>
              </a:lnSpc>
            </a:pPr>
            <a:r>
              <a:rPr b="0" i="0" sz="800">
                <a:solidFill>
                  <a:srgbClr val="6B7280"/>
                </a:solidFill>
                <a:latin typeface="Arial"/>
              </a:rPr>
              <a:t>13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68400"/>
            <a:ext cx="93218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2300">
                <a:solidFill>
                  <a:srgbClr val="182448"/>
                </a:solidFill>
                <a:latin typeface="Georgia"/>
              </a:rPr>
              <a:t>Three ways to start, none of which commits you to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6100"/>
            <a:ext cx="2988733" cy="2159000"/>
          </a:xfrm>
          <a:prstGeom prst="roundRect">
            <a:avLst>
              <a:gd name="adj" fmla="val 470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16100"/>
            <a:ext cx="63500" cy="2159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019300"/>
            <a:ext cx="2531533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2200">
                <a:solidFill>
                  <a:srgbClr val="D4AF37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2451100"/>
            <a:ext cx="253153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A free claims review</a:t>
            </a:r>
          </a:p>
          <a:p>
            <a:pPr algn="l">
              <a:lnSpc>
                <a:spcPct val="120400"/>
              </a:lnSpc>
              <a:spcBef>
                <a:spcPts val="5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Send us your list of unpaid HMO and corporate claims. We tell you what is recoverable and how long it will take.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2333" y="1816100"/>
            <a:ext cx="2988733" cy="2159000"/>
          </a:xfrm>
          <a:prstGeom prst="roundRect">
            <a:avLst>
              <a:gd name="adj" fmla="val 470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2333" y="1816100"/>
            <a:ext cx="63500" cy="2159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6333" y="2019300"/>
            <a:ext cx="2531533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2200">
                <a:solidFill>
                  <a:srgbClr val="D4AF37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6333" y="2451100"/>
            <a:ext cx="253153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A conversation</a:t>
            </a:r>
          </a:p>
          <a:p>
            <a:pPr algn="l">
              <a:lnSpc>
                <a:spcPct val="120400"/>
              </a:lnSpc>
              <a:spcBef>
                <a:spcPts val="5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Forty five minutes with a senior partner on the one problem that worries you most. No charge.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8866" y="1816100"/>
            <a:ext cx="2988733" cy="2159000"/>
          </a:xfrm>
          <a:prstGeom prst="roundRect">
            <a:avLst>
              <a:gd name="adj" fmla="val 470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8866" y="1816100"/>
            <a:ext cx="63500" cy="2159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2866" y="2019300"/>
            <a:ext cx="2531533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2200">
                <a:solidFill>
                  <a:srgbClr val="D4AF37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2866" y="2451100"/>
            <a:ext cx="253153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500"/>
              </a:lnSpc>
            </a:pPr>
            <a:r>
              <a:rPr b="1" i="0" sz="1400">
                <a:solidFill>
                  <a:srgbClr val="0B3C5D"/>
                </a:solidFill>
                <a:latin typeface="Arial"/>
              </a:rPr>
              <a:t>An audit</a:t>
            </a:r>
          </a:p>
          <a:p>
            <a:pPr algn="l">
              <a:lnSpc>
                <a:spcPct val="120400"/>
              </a:lnSpc>
              <a:spcBef>
                <a:spcPts val="500"/>
              </a:spcBef>
            </a:pPr>
            <a:r>
              <a:rPr b="0" i="0" sz="1150">
                <a:solidFill>
                  <a:srgbClr val="1F2937"/>
                </a:solidFill>
                <a:latin typeface="Arial"/>
              </a:rPr>
              <a:t>A fixed price diagnostic of the whole hospital, and a short list of decisions for the 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05300"/>
            <a:ext cx="9321800" cy="1422400"/>
          </a:xfrm>
          <a:prstGeom prst="roundRect">
            <a:avLst>
              <a:gd name="adj" fmla="val 7142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305300"/>
            <a:ext cx="63500" cy="1422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600" y="45339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1800"/>
              </a:lnSpc>
            </a:pPr>
            <a:r>
              <a:rPr b="1" i="0" sz="850" spc="160">
                <a:solidFill>
                  <a:srgbClr val="D4AF37"/>
                </a:solidFill>
                <a:latin typeface="Arial"/>
              </a:rPr>
              <a:t>SPEAK TO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" y="4813300"/>
            <a:ext cx="457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200"/>
              </a:lnSpc>
            </a:pPr>
            <a:r>
              <a:rPr b="1" i="0" sz="1700">
                <a:solidFill>
                  <a:srgbClr val="FFFFFF"/>
                </a:solidFill>
                <a:latin typeface="Georgia"/>
              </a:rPr>
              <a:t>Ejiro Alechenu</a:t>
            </a:r>
          </a:p>
          <a:p>
            <a:pPr algn="l">
              <a:lnSpc>
                <a:spcPct val="111800"/>
              </a:lnSpc>
              <a:spcBef>
                <a:spcPts val="400"/>
              </a:spcBef>
            </a:pPr>
            <a:r>
              <a:rPr b="0" i="0" sz="1050">
                <a:solidFill>
                  <a:srgbClr val="C9D6E0"/>
                </a:solidFill>
                <a:latin typeface="Arial"/>
              </a:rPr>
              <a:t>Business Development, Consult for Africa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5800" y="4813300"/>
            <a:ext cx="393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400"/>
              </a:lnSpc>
            </a:pPr>
            <a:r>
              <a:rPr b="1" i="0" sz="1200">
                <a:solidFill>
                  <a:srgbClr val="FFFFFF"/>
                </a:solidFill>
                <a:latin typeface="Arial"/>
              </a:rPr>
              <a:t>hello@consultforafrica.com</a:t>
            </a:r>
          </a:p>
          <a:p>
            <a:pPr algn="l">
              <a:lnSpc>
                <a:spcPct val="120400"/>
              </a:lnSpc>
              <a:spcBef>
                <a:spcPts val="200"/>
              </a:spcBef>
            </a:pPr>
            <a:r>
              <a:rPr b="0" i="0" sz="1200">
                <a:solidFill>
                  <a:srgbClr val="C9D6E0"/>
                </a:solidFill>
                <a:latin typeface="Arial"/>
              </a:rPr>
              <a:t>consultforafrica.com</a:t>
            </a:r>
          </a:p>
          <a:p>
            <a:pPr algn="l">
              <a:lnSpc>
                <a:spcPct val="120400"/>
              </a:lnSpc>
              <a:spcBef>
                <a:spcPts val="200"/>
              </a:spcBef>
            </a:pPr>
            <a:r>
              <a:rPr b="0" i="0" sz="1200">
                <a:solidFill>
                  <a:srgbClr val="C9D6E0"/>
                </a:solidFill>
                <a:latin typeface="Arial"/>
              </a:rPr>
              <a:t>Lagos and Abuja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 for Africa: services for private hospitals</dc:title>
  <dc:subject/>
  <dc:creator>Consult for Africa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